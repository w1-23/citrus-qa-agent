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7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57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组合 16"/>
          <p:cNvGrpSpPr/>
          <p:nvPr/>
        </p:nvGrpSpPr>
        <p:grpSpPr>
          <a:xfrm>
            <a:off x="1063625" y="1699895"/>
            <a:ext cx="478790" cy="449580"/>
            <a:chOff x="12501" y="188"/>
            <a:chExt cx="6336" cy="6336"/>
          </a:xfrm>
        </p:grpSpPr>
        <p:sp>
          <p:nvSpPr>
            <p:cNvPr id="4" name="Oval 3"/>
            <p:cNvSpPr/>
            <p:nvPr/>
          </p:nvSpPr>
          <p:spPr>
            <a:xfrm>
              <a:off x="12501" y="188"/>
              <a:ext cx="6336" cy="6336"/>
            </a:xfrm>
            <a:prstGeom prst="ellipse">
              <a:avLst/>
            </a:prstGeom>
            <a:solidFill>
              <a:srgbClr val="C24E0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509" y="1196"/>
              <a:ext cx="4320" cy="432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4445" y="2132"/>
              <a:ext cx="2448" cy="2448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22960" y="14630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🍊 Citrus QA Agent</a:t>
            </a:r>
            <a:endParaRPr sz="5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你的柑橘科研问答助手</a:t>
            </a:r>
            <a:endParaRPr sz="22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54680" y="338328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3832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证据可溯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40680" y="338328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3832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自动写综述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868680" y="5943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E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AI-Agents-in-Depth 理论 · 完整工程落地</a:t>
            </a:r>
            <a:endParaRPr sz="1200" b="0" i="0">
              <a:solidFill>
                <a:srgbClr val="FFE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为什么需要它：科研人的三座大山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2/20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64008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170432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我们需要 —— 只信真文献 · 每句可溯源 · 能自动成稿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260090" y="2799715"/>
            <a:ext cx="4900930" cy="1695450"/>
            <a:chOff x="5134" y="4409"/>
            <a:chExt cx="7718" cy="2670"/>
          </a:xfrm>
        </p:grpSpPr>
        <p:sp>
          <p:nvSpPr>
            <p:cNvPr id="10" name="Rounded Rectangle 9"/>
            <p:cNvSpPr/>
            <p:nvPr/>
          </p:nvSpPr>
          <p:spPr>
            <a:xfrm>
              <a:off x="6750" y="4409"/>
              <a:ext cx="4478" cy="2397"/>
            </a:xfrm>
            <a:prstGeom prst="roundRect">
              <a:avLst>
                <a:gd name="adj" fmla="val 10000"/>
              </a:avLst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53" y="4654"/>
              <a:ext cx="5496" cy="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文献太多</a:t>
              </a:r>
              <a:endPara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406" y="5091"/>
              <a:ext cx="5101" cy="1356"/>
            </a:xfrm>
            <a:prstGeom prst="roundRect">
              <a:avLst>
                <a:gd name="adj" fmla="val 1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53" y="5233"/>
              <a:ext cx="5496" cy="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搜索引擎不够用</a:t>
              </a:r>
              <a:endPara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947" y="5610"/>
              <a:ext cx="6093" cy="938"/>
            </a:xfrm>
            <a:prstGeom prst="roundRect">
              <a:avLst>
                <a:gd name="adj" fmla="val 10000"/>
              </a:avLst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53" y="5840"/>
              <a:ext cx="5496" cy="5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通用 AI 会幻觉</a:t>
              </a:r>
              <a:endPara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ounded Rectangle 15"/>
            <p:cNvSpPr/>
            <p:nvPr/>
          </p:nvSpPr>
          <p:spPr>
            <a:xfrm>
              <a:off x="5134" y="6227"/>
              <a:ext cx="7718" cy="852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广度深度不足</a:t>
              </a:r>
              <a:endParaRPr sz="13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它能做什么：功能总览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3/20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41605" y="1571625"/>
            <a:ext cx="8823960" cy="2012315"/>
            <a:chOff x="222" y="3958"/>
            <a:chExt cx="13896" cy="3169"/>
          </a:xfrm>
        </p:grpSpPr>
        <p:sp>
          <p:nvSpPr>
            <p:cNvPr id="7" name="TextBox 6"/>
            <p:cNvSpPr txBox="1"/>
            <p:nvPr/>
          </p:nvSpPr>
          <p:spPr>
            <a:xfrm>
              <a:off x="222" y="3958"/>
              <a:ext cx="487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300" b="1" i="0">
                  <a:solidFill>
                    <a:srgbClr val="F9731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●</a:t>
              </a:r>
              <a:endPara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6" y="3958"/>
              <a:ext cx="13523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5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本地文献问答</a:t>
              </a:r>
              <a:r>
                <a:rPr sz="15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：回答带引用编号 [n]，点开即文献片段，证据可追溯</a:t>
              </a:r>
              <a:endPara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2" y="4592"/>
              <a:ext cx="487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300" b="1" i="0">
                  <a:solidFill>
                    <a:srgbClr val="F9731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●</a:t>
              </a:r>
              <a:endPara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6" y="4592"/>
              <a:ext cx="13523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5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学术检索</a:t>
              </a:r>
              <a:r>
                <a:rPr sz="15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：已对接 CrossRef</a:t>
              </a:r>
              <a:endPara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/>
              <a:r>
                <a:rPr sz="8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（接口预留 PubMed / Semantic Scholar / OpenAlex 多源）</a:t>
              </a:r>
              <a:endParaRPr sz="8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2" y="5225"/>
              <a:ext cx="487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300" b="1" i="0">
                  <a:solidFill>
                    <a:srgbClr val="F9731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●</a:t>
              </a:r>
              <a:endPara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6" y="5225"/>
              <a:ext cx="13523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5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流式回答 + 思维链</a:t>
              </a:r>
              <a:r>
                <a:rPr sz="15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：逐字上屏，「🧠 深度思考」折叠可见，随时停止改问</a:t>
              </a:r>
              <a:endPara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2" y="5859"/>
              <a:ext cx="487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300" b="1" i="0">
                  <a:solidFill>
                    <a:srgbClr val="F9731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●</a:t>
              </a:r>
              <a:endPara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6" y="5859"/>
              <a:ext cx="13523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5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综述写作</a:t>
              </a:r>
              <a:r>
                <a:rPr sz="15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：一句话 → 大纲 → 逐章 → 引用校验 → 落盘文件</a:t>
              </a:r>
              <a:endPara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2" y="6493"/>
              <a:ext cx="487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300" b="1" i="0">
                  <a:solidFill>
                    <a:srgbClr val="F9731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●</a:t>
              </a:r>
              <a:endPara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6" y="6493"/>
              <a:ext cx="13523" cy="63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5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双模式</a:t>
              </a:r>
              <a:r>
                <a:rPr sz="15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：专家模式求深 / 轻量模式求快</a:t>
              </a:r>
              <a:endPara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126605" y="1143000"/>
            <a:ext cx="4827905" cy="4189095"/>
            <a:chOff x="11132" y="2448"/>
            <a:chExt cx="7949" cy="6624"/>
          </a:xfrm>
        </p:grpSpPr>
        <p:sp>
          <p:nvSpPr>
            <p:cNvPr id="17" name="Rounded Rectangle 16"/>
            <p:cNvSpPr/>
            <p:nvPr/>
          </p:nvSpPr>
          <p:spPr>
            <a:xfrm>
              <a:off x="11132" y="2448"/>
              <a:ext cx="7949" cy="6624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0D5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132" y="2448"/>
              <a:ext cx="7949" cy="605"/>
            </a:xfrm>
            <a:prstGeom prst="roundRect">
              <a:avLst>
                <a:gd name="adj" fmla="val 5000"/>
              </a:avLst>
            </a:prstGeom>
            <a:solidFill>
              <a:srgbClr val="F1E8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1334" y="2635"/>
              <a:ext cx="230" cy="23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1622" y="2635"/>
              <a:ext cx="230" cy="23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1910" y="2635"/>
              <a:ext cx="230" cy="23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356" y="2578"/>
              <a:ext cx="5501" cy="34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1564" y="3456"/>
              <a:ext cx="5760" cy="893"/>
            </a:xfrm>
            <a:prstGeom prst="roundRect">
              <a:avLst>
                <a:gd name="adj" fmla="val 30000"/>
              </a:avLst>
            </a:prstGeom>
            <a:solidFill>
              <a:srgbClr val="FDE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780" y="3543"/>
              <a:ext cx="5472" cy="2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血橙为什么是红的？</a:t>
              </a:r>
              <a:endPara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1564" y="4608"/>
              <a:ext cx="7344" cy="21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E8DD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780" y="4781"/>
              <a:ext cx="7056" cy="9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红色主要来自</a:t>
              </a:r>
              <a:r>
                <a:rPr sz="1100" b="1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花青苷</a:t>
              </a:r>
              <a:r>
                <a:rPr sz="11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在果皮与果肉的积累 [1][2]……</a:t>
              </a:r>
              <a:endPara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/>
            </a:p>
            <a:p>
              <a:pPr algn="l"/>
              <a:r>
                <a:rPr sz="11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证据：花色苷合成受 Ruby 基因调控 [3]</a:t>
              </a:r>
              <a:endPara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8" y="6867"/>
              <a:ext cx="2448" cy="2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i="0">
                  <a:solidFill>
                    <a:srgbClr val="6B72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文献引用</a:t>
              </a:r>
              <a:endParaRPr sz="11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6316" y="7251"/>
              <a:ext cx="2520" cy="749"/>
            </a:xfrm>
            <a:prstGeom prst="roundRect">
              <a:avLst>
                <a:gd name="adj" fmla="val 15000"/>
              </a:avLst>
            </a:prstGeom>
            <a:solidFill>
              <a:srgbClr val="E4F7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460" y="7352"/>
              <a:ext cx="2232" cy="2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[1] 花青苷积累机制 (2023)</a:t>
              </a:r>
              <a:endPara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6316" y="8144"/>
              <a:ext cx="2520" cy="749"/>
            </a:xfrm>
            <a:prstGeom prst="roundRect">
              <a:avLst>
                <a:gd name="adj" fmla="val 15000"/>
              </a:avLst>
            </a:prstGeom>
            <a:solidFill>
              <a:srgbClr val="E4F7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460" y="8245"/>
              <a:ext cx="2232" cy="2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1F293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[2] Ruby 基因调控 (2021)</a:t>
              </a:r>
              <a:endPara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原理总论：Agent = 大脑 + 眼睛 + 手脚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4/20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= LLM + 上下文 + 工具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（书第 1 章公式）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" y="1682496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= 大脑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：思考与表达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2084832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 = 眼睛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：看到什么，取决于我们给它看了什么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487168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= 手脚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：能做什么，取决于配了什么设备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288950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循环：思考 → 行动 → 观察 → 再思考……直到任务完成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= 大脑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542032" y="4069080"/>
            <a:ext cx="384048" cy="0"/>
          </a:xfrm>
          <a:prstGeom prst="line">
            <a:avLst/>
          </a:prstGeom>
          <a:ln w="2540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50080" y="37033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0080" y="3703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 = 眼睛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260592" y="4069080"/>
            <a:ext cx="384048" cy="0"/>
          </a:xfrm>
          <a:prstGeom prst="line">
            <a:avLst/>
          </a:prstGeom>
          <a:ln w="2540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8640" y="37033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C24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8640" y="37033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= 手脚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整体架构：主管 + 三个专员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5486400"/>
            <a:ext cx="1371600" cy="64008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965960" y="5760720"/>
            <a:ext cx="731520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0" y="5486400"/>
            <a:ext cx="2011680" cy="64008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主管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 flipH="1">
            <a:off x="1668780" y="6126480"/>
            <a:ext cx="1897380" cy="59436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6766560"/>
            <a:ext cx="1691640" cy="6035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76656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检索专员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566160" y="6126480"/>
            <a:ext cx="1607820" cy="59436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28160" y="6766560"/>
            <a:ext cx="1691640" cy="6035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8160" y="676656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✍️ 写作专员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566160" y="6126480"/>
            <a:ext cx="5113020" cy="59436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33360" y="6766560"/>
            <a:ext cx="1691640" cy="6035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3360" y="676656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分析专员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75895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知识库 · 记忆 · 工具包</a:t>
            </a:r>
            <a:endParaRPr sz="12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提示词：给 AI 立人设、定规矩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5/20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&lt;!-- visual: cards:3 --&gt;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" y="1682496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 role.md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：柑橘科研助手，专精基因 / 代谢通路 / 病害 / 品种差异，工作范围写死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20848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 constraints.md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：不编造 DOI 与实验数据；冲突并列呈现；来源必标注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4871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决策指南 decision_guide.md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：路由表 —— 什么情况走哪条路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889504"/>
          <a:ext cx="580644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用户请求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正确路径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328416"/>
          <a:ext cx="580644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---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---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767328"/>
          <a:ext cx="580644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「把这段保存下来」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write_local_file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4206240"/>
          <a:ext cx="580644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「写一篇综述」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call_write_agent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4645152"/>
          <a:ext cx="580644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「读这个文件」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read_local_file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上下文工程（一）：静态前缀与 KV 缓存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6/20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 = AI 的「眼睛」：每次回答前打包全部所需信息 —— 长 = 贵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缓存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：相同前缀免重复计算，模型「背下」固定内容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静态前缀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：系统提示词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字节级稳定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稳定命中 DeepSeek 上下文缓存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动态内容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：格式指南、技能一律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追加当前轮尾部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，绝不插到前面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277977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" y="2779776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1,000,000 token 窗口预算 + 右上角实时用量环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0" y="1170432"/>
            <a:ext cx="1051560" cy="13716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733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</a:t>
            </a:r>
            <a:endParaRPr sz="2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06056" y="1170432"/>
            <a:ext cx="1051560" cy="13716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16733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</a:t>
            </a:r>
            <a:endParaRPr sz="2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85632" y="1170432"/>
            <a:ext cx="1051560" cy="13716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16733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</a:t>
            </a:r>
            <a:endParaRPr sz="2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65208" y="1170432"/>
            <a:ext cx="1051560" cy="1371600"/>
          </a:xfrm>
          <a:prstGeom prst="roundRect">
            <a:avLst>
              <a:gd name="adj" fmla="val 10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16733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4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844784" y="1170432"/>
            <a:ext cx="1051560" cy="1371600"/>
          </a:xfrm>
          <a:prstGeom prst="roundRect">
            <a:avLst>
              <a:gd name="adj" fmla="val 10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44784" y="16733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24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0" y="2651760"/>
            <a:ext cx="324383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静态前缀 · 字节级稳定</a:t>
            </a:r>
            <a:endParaRPr sz="12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70314" y="2651760"/>
            <a:ext cx="26540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动态内容 · 追加尾部</a:t>
            </a:r>
            <a:endParaRPr sz="12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09360" y="31089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1089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 DeepSeek 上下文缓存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上下文工程（二）：分级压缩与状态栏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7/20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软阈值 75%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：批量压缩至 50%（缓存只破坏一次）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硬阈值 93%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：强制收尾，不再开新任务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保护名单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：最近 3 轮问答 / 被引证据全文 / DOI 编号 —— 绝不压缩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 增量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：只摘要新增部分，防「摘要套摘要」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277977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" y="2779776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状态栏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：轮次 / 工具预算 / 去重文献数由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代码注入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不让模型自数（实测数错）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117043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分级压缩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46520" y="1536192"/>
            <a:ext cx="4101084" cy="548640"/>
          </a:xfrm>
          <a:prstGeom prst="roundRect">
            <a:avLst>
              <a:gd name="adj" fmla="val 10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 未整理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0593324" y="1810512"/>
            <a:ext cx="457200" cy="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141964" y="1536192"/>
            <a:ext cx="2050542" cy="54864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79124" y="1554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50% 压缩后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313432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保护名单（绝不压缩）</a:t>
            </a:r>
            <a:endParaRPr sz="12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46520" y="2633472"/>
            <a:ext cx="1478280" cy="384048"/>
          </a:xfrm>
          <a:prstGeom prst="roundRect">
            <a:avLst>
              <a:gd name="adj" fmla="val 50000"/>
            </a:avLst>
          </a:prstGeom>
          <a:solidFill>
            <a:srgbClr val="E4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33472"/>
            <a:ext cx="1478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 3 轮问答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16240" y="2633472"/>
            <a:ext cx="1478280" cy="384048"/>
          </a:xfrm>
          <a:prstGeom prst="roundRect">
            <a:avLst>
              <a:gd name="adj" fmla="val 50000"/>
            </a:avLst>
          </a:prstGeom>
          <a:solidFill>
            <a:srgbClr val="E4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6240" y="2633472"/>
            <a:ext cx="1478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被引证据全文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585960" y="2633472"/>
            <a:ext cx="1478280" cy="384048"/>
          </a:xfrm>
          <a:prstGeom prst="roundRect">
            <a:avLst>
              <a:gd name="adj" fmla="val 50000"/>
            </a:avLst>
          </a:prstGeom>
          <a:solidFill>
            <a:srgbClr val="E4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5960" y="2633472"/>
            <a:ext cx="1478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 编号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3273552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&lt;agent_status&gt; 状态栏（代码注入）</a:t>
            </a:r>
            <a:endParaRPr sz="12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520" y="3566160"/>
            <a:ext cx="4994910" cy="566928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566160"/>
            <a:ext cx="47320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7EE0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&lt;agent_status&gt; 轮次:2/4 · 已检索文献:6 · 预算剩余:68%</a:t>
            </a:r>
            <a:endParaRPr sz="1200" b="1" i="0">
              <a:solidFill>
                <a:srgbClr val="7EE0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记忆机制（一）：便利贴 + 长期笔记本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8/20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常驻卡片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（便利贴）：高置信度 ≥0.8 的短事实，≤8 张、每张 ≤500 字，代码自动淘汰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长期事实库 LTM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（工作日志）：ADD-only 只追加不覆盖；置信度 &lt;0.5 拒绝写入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：语义相似度 × 时间衰减 排序取 top 5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记忆提取在后台线程，不与回答抢时间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 rot="360000">
            <a:off x="6583680" y="1353312"/>
            <a:ext cx="1737360" cy="1051560"/>
          </a:xfrm>
          <a:prstGeom prst="roundRect">
            <a:avLst>
              <a:gd name="adj" fmla="val 8000"/>
            </a:avLst>
          </a:prstGeom>
          <a:solidFill>
            <a:srgbClr val="FFE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27632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用户偏好中文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 rot="21300000">
            <a:off x="8983980" y="1353312"/>
            <a:ext cx="1737360" cy="105156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1140" y="1627632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研究血橙花色苷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 rot="360000">
            <a:off x="6583680" y="2587752"/>
            <a:ext cx="1737360" cy="1051560"/>
          </a:xfrm>
          <a:prstGeom prst="roundRect">
            <a:avLst>
              <a:gd name="adj" fmla="val 8000"/>
            </a:avLst>
          </a:prstGeom>
          <a:solidFill>
            <a:srgbClr val="E4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862072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 ≥0.8 才上墙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 rot="21300000">
            <a:off x="8983980" y="2587752"/>
            <a:ext cx="1737360" cy="1051560"/>
          </a:xfrm>
          <a:prstGeom prst="roundRect">
            <a:avLst>
              <a:gd name="adj" fmla="val 8000"/>
            </a:avLst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1140" y="2862072"/>
            <a:ext cx="1463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 张 · 自动淘汰</a:t>
            </a:r>
            <a:endParaRPr sz="12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0" y="3822192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9593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📔 长期事实库 LTM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0840" y="4370832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ADD-only 只追加不覆盖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 &lt;0.5 拒绝写入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× 时间衰减召回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记忆机制（二）：偏好、域隔离与隐私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9/20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偏好两层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：全局跨会话（「综述用中文」新会话也生效）+ 会话级覆盖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记忆域化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：本会话优先；置信度 ≥0.9 的事实才全局共享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日志脱敏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：邮箱 / 手机号 / 身份证 / API Key 自动打码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本地化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：state/api_key，权限 600，仅本账户可读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17043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记忆按会话分抽屉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95160" y="1581912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58191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A 的记忆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95160" y="2633471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633471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 B 的记忆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95160" y="3685032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68503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全局偏好（跨会话）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52760" y="2176272"/>
            <a:ext cx="17373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「综述用中文」→ 全局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新会话也生效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会话细节 → 不跨域乱串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 ≥0.9 才全局共享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知识库（一）：把文献变成「语义图书馆」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10/20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 Chunking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：整篇太贵太长 → 切成几百字片段，共 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11.9 万条</a:t>
            </a:r>
            <a:endParaRPr sz="15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稠密嵌入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：文字 → 向量，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意思相近则数字相近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（多语言模型，中英通吃）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LanceDB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：嵌入式向量库 —— 百万级 / 热更新 / 免部署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一键导入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：自己的 PDF / txt / md → 自动分块 → 向量化 → 入库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40855" y="1307592"/>
            <a:ext cx="4469130" cy="8229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855" y="1417320"/>
            <a:ext cx="446913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txt / md 文献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40855" y="1764792"/>
            <a:ext cx="446913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endParaRPr sz="1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2130552"/>
            <a:ext cx="0" cy="164592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0731" y="2359151"/>
            <a:ext cx="3709377" cy="82296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0731" y="2468879"/>
            <a:ext cx="370937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 Chunking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0731" y="2816351"/>
            <a:ext cx="370937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11.9 万条片段</a:t>
            </a:r>
            <a:endParaRPr sz="1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182111"/>
            <a:ext cx="0" cy="164592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00607" y="3410711"/>
            <a:ext cx="2949625" cy="822960"/>
          </a:xfrm>
          <a:prstGeom prst="roundRect">
            <a:avLst>
              <a:gd name="adj" fmla="val 12000"/>
            </a:avLst>
          </a:prstGeom>
          <a:solidFill>
            <a:srgbClr val="C24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607" y="3520439"/>
            <a:ext cx="294962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向量化嵌入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00607" y="3867911"/>
            <a:ext cx="294962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e5 多语言模型</a:t>
            </a:r>
            <a:endParaRPr sz="1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233671"/>
            <a:ext cx="0" cy="164592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80483" y="4462271"/>
            <a:ext cx="2189873" cy="822960"/>
          </a:xfrm>
          <a:prstGeom prst="roundRect">
            <a:avLst>
              <a:gd name="adj" fmla="val 12000"/>
            </a:avLst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0483" y="4571999"/>
            <a:ext cx="218987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LanceDB 向量库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80483" y="4919471"/>
            <a:ext cx="21898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百万级 · 热更新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知识库（二）：两阶段检索与动态阈值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11/20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海选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：BM25 关键词（精确）+ 向量（语义）并行，RRF 融合 —— 又懂意思又认关键词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：交叉编码重排（bge-reranker-v2-m3）逐条精读重排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HyDE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：先写一段假设答案再检索 —— 弥合「问法」与「文献写法」的差异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动态阈值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300" b="0" i="0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max(0.25 地板, 本轮最高分 × 0.6)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；分数分布写日志 → </a:t>
            </a:r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统计自适应</a:t>
            </a:r>
            <a:endParaRPr sz="15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0840" y="2944368"/>
            <a:ext cx="274320" cy="603504"/>
          </a:xfrm>
          <a:prstGeom prst="roundRect">
            <a:avLst>
              <a:gd name="adj" fmla="val 8000"/>
            </a:avLst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2702967"/>
            <a:ext cx="274320" cy="844905"/>
          </a:xfrm>
          <a:prstGeom prst="roundRect">
            <a:avLst>
              <a:gd name="adj" fmla="val 8000"/>
            </a:avLst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2441448"/>
            <a:ext cx="274320" cy="1106424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179930"/>
            <a:ext cx="274320" cy="1367942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1898295"/>
            <a:ext cx="274320" cy="1649577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1737360"/>
            <a:ext cx="274320" cy="1810512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64040" y="2099463"/>
            <a:ext cx="274320" cy="1448409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21240" y="2381098"/>
            <a:ext cx="274320" cy="1166774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78440" y="2783434"/>
            <a:ext cx="274320" cy="764438"/>
          </a:xfrm>
          <a:prstGeom prst="roundRect">
            <a:avLst>
              <a:gd name="adj" fmla="val 8000"/>
            </a:avLst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835640" y="3024836"/>
            <a:ext cx="274320" cy="523036"/>
          </a:xfrm>
          <a:prstGeom prst="roundRect">
            <a:avLst>
              <a:gd name="adj" fmla="val 8000"/>
            </a:avLst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441448"/>
            <a:ext cx="5257800" cy="274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1671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动态阈值 = max(0.25 地板, top×0.6)</a:t>
            </a:r>
            <a:endParaRPr sz="1100" b="1" i="0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3657600"/>
            <a:ext cx="5257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分数分布写入检索日志 → 按统计分布更新地板（自适应）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117043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两阶段检索：海选（BM25+向量）→ 面试（重排精排）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工具系统：给 Agent 配齐手脚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12/20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工具注册表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：每个工具登记 分类 / 是否只读 / 并发键 —— 设备台账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四类设备：🔍 检索（本地 + 学术）· 📖 读文件 · ✍️ 写文件 · 📊 分析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：写仅限 workspace/output，读限项目内（严格路径校验）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权限三档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：auto_workspace 免问 / ask 弹审批卡片（90s 超时）/ deny 一律拒绝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37960" y="1261872"/>
            <a:ext cx="23728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353312"/>
            <a:ext cx="21534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检索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47688" y="1645920"/>
            <a:ext cx="21534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RAG + 学术库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83980" y="1261872"/>
            <a:ext cx="23728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3708" y="1353312"/>
            <a:ext cx="21534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📖 读文件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93708" y="1645920"/>
            <a:ext cx="21534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MD / CSV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2633472"/>
            <a:ext cx="23728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2724912"/>
            <a:ext cx="21534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✍️ 写文件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3017520"/>
            <a:ext cx="21534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 workspace/output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83980" y="2633472"/>
            <a:ext cx="23728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3708" y="2724912"/>
            <a:ext cx="21534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分析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93708" y="3017520"/>
            <a:ext cx="21534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统计检验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98280" y="3913632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0233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权限审批</a:t>
            </a:r>
            <a:endParaRPr sz="1200" b="1" i="0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35440" y="432511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请求写入文件 output/report.md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235440" y="496519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965192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允许本次</a:t>
            </a:r>
            <a:endParaRPr sz="1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515600" y="496519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4965192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</a:t>
            </a:r>
            <a:endParaRPr sz="10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工具护栏：预算、熔断与停止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13/20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检索预算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：每轮 rag≤2 / academic≤1，请求级 rag≤6 —— 超限代码拦截 + 占位说明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收敛判断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：累计 ≥6 篇且本轮新增 &lt;25% → 提前收尾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熔断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：连续 3 次工具失败 → 强制收尾，不无限重试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停止按钮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：一键取消 —— 用户永远保留控制权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779776"/>
            <a:ext cx="64008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779776"/>
            <a:ext cx="5742432" cy="457200"/>
          </a:xfrm>
          <a:prstGeom prst="roundRect">
            <a:avLst>
              <a:gd name="adj" fmla="val 12000"/>
            </a:avLst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77977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四道护栏全部是</a:t>
            </a:r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代码写死的硬约束</a:t>
            </a:r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，不靠提示词劝模型「自觉省钱」</a:t>
            </a:r>
            <a:endParaRPr sz="14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37960" y="1261872"/>
            <a:ext cx="1554480" cy="155448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39128" y="1463040"/>
            <a:ext cx="1152144" cy="1152144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1051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检索预算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222199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6/6 用尽</a:t>
            </a:r>
            <a:endParaRPr sz="9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983980" y="1261872"/>
            <a:ext cx="1554480" cy="155448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5148" y="1463040"/>
            <a:ext cx="1152144" cy="1152144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3980" y="181051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边际收敛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83980" y="222199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≥6 篇 · 新增&lt;25%</a:t>
            </a:r>
            <a:endParaRPr sz="900" b="1" i="0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37960" y="3227832"/>
            <a:ext cx="1554480" cy="155448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39128" y="3429000"/>
            <a:ext cx="1152144" cy="1152144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77647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熔断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4187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 3 次失败</a:t>
            </a:r>
            <a:endParaRPr sz="900" b="1" i="0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983980" y="3227832"/>
            <a:ext cx="1554480" cy="155448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85148" y="3429000"/>
            <a:ext cx="1152144" cy="1152144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3980" y="377647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停止按钮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83980" y="4187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一键取消</a:t>
            </a:r>
            <a:endParaRPr sz="9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子代理协作：主管 + 专员，证据全文共享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14/20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主管 Supervisor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：理解需求 / 派活 / 汇总；轮次与预算由代码裁决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三个专员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：检索 / 写作 / 分析 —— 分工隔离，只回传结构化报告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与编码 Agent（OpenCode 等）的本质差异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编码类：隔离 + 压缩传</a:t>
            </a:r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（代码片段可浓缩）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277977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" y="2779776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我们：</a:t>
            </a:r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证据全文共享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结论 / 数值 / 机制细节只在原文，摘要一压就丢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31821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664" y="3182112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历史证据账本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：追问时全额注入上一轮证据 → </a:t>
            </a:r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免重新检索</a:t>
            </a:r>
            <a:endParaRPr sz="16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74920" y="3703320"/>
            <a:ext cx="2011680" cy="6858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70332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主管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68780" y="4389120"/>
            <a:ext cx="4411980" cy="64008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5074920"/>
            <a:ext cx="178308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检索专员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5204460" y="4389120"/>
            <a:ext cx="876300" cy="64008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12920" y="5074920"/>
            <a:ext cx="178308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920" y="50749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✍️ 写作专员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389120"/>
            <a:ext cx="2659380" cy="640080"/>
          </a:xfrm>
          <a:prstGeom prst="line">
            <a:avLst/>
          </a:prstGeom>
          <a:ln w="31750">
            <a:solidFill>
              <a:srgbClr val="F973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48600" y="5074920"/>
            <a:ext cx="178308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8600" y="50749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分析专员</a:t>
            </a:r>
            <a:endParaRPr sz="13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" y="6080760"/>
            <a:ext cx="10789920" cy="1371600"/>
          </a:xfrm>
          <a:prstGeom prst="roundRect">
            <a:avLst>
              <a:gd name="adj" fmla="val 10000"/>
            </a:avLst>
          </a:prstGeom>
          <a:solidFill>
            <a:srgbClr val="E4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621792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与编码 Agent 的本质差异</a:t>
            </a:r>
            <a:r>
              <a:rPr sz="12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：编码类 = 隔离 + 压缩传摘要；</a:t>
            </a:r>
            <a:endParaRPr sz="12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 = </a:t>
            </a:r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证据全文共享</a:t>
            </a:r>
            <a:r>
              <a:rPr sz="12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（结论 / 数值 / 机制细节只在原文）</a:t>
            </a:r>
            <a:endParaRPr sz="12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2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历史证据账本</a:t>
            </a:r>
            <a:r>
              <a:rPr sz="12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：追问时全额注入上一轮证据 → 免重新检索</a:t>
            </a:r>
            <a:endParaRPr sz="12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综述写作流水线：从大纲到成稿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15/20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任务分类 → 材料打包 → 生成大纲（📋 执行计划）→ 大纲校验 →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章并行撰写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引用统一编号 → 完整性校验 →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草稿原子发布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" y="1682496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技能渐进式披露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：先给技能目录，大纲声明用哪个才注入哪个全文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2084832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原子发布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：先写 .draft.md，全部检查通过后一次性改名落盘 —— 中断不留半成品，支持断点续传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487168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定向修改：「把第三章改一下」精准定位重写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3685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写作流水线 Plan-Execute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任务分类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22529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0934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934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934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材料打包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77977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6382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382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6382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生成大纲（📋 执行计划）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33425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71830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1830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大纲校验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88873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7278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7278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章并行撰写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744321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82726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2726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引用统一编号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899769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8174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8174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完整性校验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0552176" y="4572000"/>
            <a:ext cx="384048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936224" y="4087368"/>
            <a:ext cx="1170432" cy="10515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36224" y="408736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936224" y="4361688"/>
            <a:ext cx="11704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草稿原子发布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原子发布：先写 .draft.md → 校验通过 → 一次性改名落盘 · 中断不留半成品 · 断点续传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评价系统（一）：232 个测试 + 10 条工程宪法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16/20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232 项自动化回归测试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：任何改动不许变红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条工程不变量 INV-01~10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：协议配对 / 生命周期有界 / 检索降级 / 熔断与输入隔离 / 证据账本 / 存储全量·发送裁剪……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INV-01 协议配对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每次工具调用必须有结果回执（线上 400 错误的教训）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109179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 → 根因 → 修复 档案（F1~F9）</a:t>
            </a:r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：每个不变量背后躺着一个真实事故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232 项回归测试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任何改动不许变红</a:t>
            </a:r>
            <a:endParaRPr sz="12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035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232 passed</a:t>
            </a:r>
            <a:endParaRPr sz="20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86200" y="3703320"/>
            <a:ext cx="7772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80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INV-01 协议配对</a:t>
            </a:r>
            <a:endParaRPr sz="11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4224527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INV-02 生命周期有界</a:t>
            </a:r>
            <a:endParaRPr sz="11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0" y="4608576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INV-03 检索降级</a:t>
            </a:r>
            <a:endParaRPr sz="11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0" y="4992624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INV-04 上下文传播</a:t>
            </a:r>
            <a:endParaRPr sz="11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800" y="5376671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INV-05 输出路由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5760720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INV-06 可观测回归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0" y="6144768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INV-07 状态显式化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0" y="6528816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INV-08 熔断与输入隔离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14800" y="6912864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INV-09 证据账本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0" y="7296911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INV-10 存储全量·发送裁剪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0" y="6035040"/>
            <a:ext cx="74066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每个不变量背后 = 一个真实事故（F1~F9 档案）</a:t>
            </a:r>
            <a:endParaRPr sz="10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评价系统（二）：反馈闭环与可观测性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17/20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170432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👍 / 👎 + 文字评论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：一键反馈，内容哈希幂等去重，落本地库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1572768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三级日志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：业务（请求全链路）/ 检索（候选数、阈值、过滤明细、耗时）/ 反馈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1975104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性能观测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：缓存命中率、检索耗时、工具调用次数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3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2377440"/>
            <a:ext cx="5568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假完成检测</a:t>
            </a:r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：回答写了引用 [n] 但本轮无检索支撑 → 标记风险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37960" y="1307592"/>
            <a:ext cx="1737360" cy="173736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1536192"/>
            <a:ext cx="1280160" cy="1280160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5623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82%</a:t>
            </a:r>
            <a:endParaRPr sz="1800" b="1" i="0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24048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缓存命中率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168640" y="1307592"/>
            <a:ext cx="1737360" cy="173736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97240" y="1536192"/>
            <a:ext cx="1280160" cy="1280160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640" y="185623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320ms</a:t>
            </a:r>
            <a:endParaRPr sz="1800" b="1" i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68640" y="24048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检索平均耗时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799320" y="1307592"/>
            <a:ext cx="1737360" cy="1737360"/>
          </a:xfrm>
          <a:prstGeom prst="ellipse">
            <a:avLst/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27920" y="1536192"/>
            <a:ext cx="1280160" cy="1280160"/>
          </a:xfrm>
          <a:prstGeom prst="ellipse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9320" y="185623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≤6 次</a:t>
            </a:r>
            <a:endParaRPr sz="18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99320" y="24048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单请求工具调用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3319272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反馈闭环：👍/👎 + 评论 → 本地库 → 改进</a:t>
            </a:r>
            <a:endParaRPr sz="13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46520" y="3776472"/>
            <a:ext cx="102184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776472"/>
            <a:ext cx="102184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👍/👎 反馈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578090" y="3776472"/>
            <a:ext cx="102184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8090" y="3776472"/>
            <a:ext cx="102184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内容哈希幂等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09660" y="3776472"/>
            <a:ext cx="102184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9660" y="3776472"/>
            <a:ext cx="102184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三级日志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841230" y="3776472"/>
            <a:ext cx="102184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1230" y="3776472"/>
            <a:ext cx="102184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假完成检测</a:t>
            </a:r>
            <a:endParaRPr sz="11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完整例子串讲：一次提问走完全程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18/20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用户：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「写一篇柑橘黄龙病防治的文献综述，保存到工作区」</a:t>
            </a:r>
            <a:endParaRPr sz="1700" b="1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68249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接单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：恢复会话历史 + 召回长期记忆（偏好中文）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派活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：路由表判定「撰写新内容」→ 派检索专员 + 写作专员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70662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找材料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：HyDE → 混合检索 → 重排 → 动态阈值 → 预算内收敛 → 证据全文报告 + 账本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：出大纲 → 3 章并行 → 技能按需注入 → 引用编号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73075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交稿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：完整性校验 → 原子落盘 workspace/output → 「工作区」可见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242816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sz="1700" b="1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r>
              <a:rPr sz="17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：👍 + 评论入库 → 成为改进养料</a:t>
            </a:r>
            <a:endParaRPr sz="17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4754880"/>
            <a:ext cx="64008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75488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D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75488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追问场景：账本注入上轮证据全文 → 免重新检索</a:t>
            </a:r>
            <a:endParaRPr sz="15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307320" y="1865122"/>
            <a:ext cx="41148" cy="4206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安全与隐私：为什么可以放心用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19/20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1335024"/>
            <a:ext cx="5358384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9616"/>
            <a:ext cx="4992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不出门</a:t>
            </a:r>
            <a:endParaRPr sz="14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1929384"/>
            <a:ext cx="499262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本机文件、权限 600、不进仓库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53912" y="1335024"/>
            <a:ext cx="5358384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9616"/>
            <a:ext cx="4992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数据全本地</a:t>
            </a:r>
            <a:endParaRPr sz="14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6792" y="1929384"/>
            <a:ext cx="499262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除模型 API 外无任何外部请求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" y="3300984"/>
            <a:ext cx="5358384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465576"/>
            <a:ext cx="4992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防提示注入</a:t>
            </a:r>
            <a:endParaRPr sz="14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3895344"/>
            <a:ext cx="499262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检索内容 </a:t>
            </a:r>
            <a:r>
              <a:rPr sz="900" b="0" i="0">
                <a:solidFill>
                  <a:srgbClr val="F9731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&lt;evidence&gt;</a:t>
            </a:r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标签隔离 + 「数据边界」声明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53912" y="3300984"/>
            <a:ext cx="5358384" cy="1746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465576"/>
            <a:ext cx="49926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日志脱敏</a:t>
            </a:r>
            <a:endParaRPr sz="14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36792" y="3895344"/>
            <a:ext cx="499262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 / 手机 / 身份证 / 密钥自动打码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8686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18320" y="0"/>
            <a:ext cx="22860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Citrus QA Agent · 20/20</a:t>
            </a:r>
            <a:endParaRPr sz="11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一个公式</a:t>
            </a:r>
            <a:endParaRPr sz="19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= LLM + 上下文 + 工具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31343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一套工程</a:t>
            </a:r>
            <a:endParaRPr sz="19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条不变量 + 232 测试 + 反馈闭环 —— 理论变成可验证系统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273552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C24E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一个场景</a:t>
            </a:r>
            <a:endParaRPr sz="1900" b="1" i="0">
              <a:solidFill>
                <a:srgbClr val="C24E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73075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柑橘科研问答 + 综述全链路，针对科研垂类做了编码 Agent 不会做的取舍</a:t>
            </a:r>
            <a:endParaRPr sz="15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23367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展望：检索阈值自适应 · 学术多源检索 · 多租户分布式 · 正式评测基准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478231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开源 · 双击即跑 · 欢迎试用 —— 谢谢大家！</a:t>
            </a:r>
            <a:endParaRPr sz="16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开源 · 双击即跑 · 欢迎试用</a:t>
            </a:r>
            <a:endParaRPr sz="1400" b="1" i="0">
              <a:solidFill>
                <a:srgbClr val="22C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5285</Words>
  <Application>WPS 演示</Application>
  <PresentationFormat>On-screen Show (4:3)</PresentationFormat>
  <Paragraphs>683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王自强</cp:lastModifiedBy>
  <cp:revision>5</cp:revision>
  <dcterms:created xsi:type="dcterms:W3CDTF">2013-01-27T09:14:00Z</dcterms:created>
  <dcterms:modified xsi:type="dcterms:W3CDTF">2026-08-16T07:04:43Z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4E0CE1B31C8642279AFD8C6E2077F3D4_12</vt:lpwstr>
  </property>
  <property fmtid="{D5CDD505-2E9C-101B-9397-08002B2CF9AE}" pid="3" name="KSOProductBuildVer">
    <vt:lpwstr>2052-12.1.0.28043</vt:lpwstr>
  </property>
</Properties>
</file>